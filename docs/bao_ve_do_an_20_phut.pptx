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6000" y="1080000"/>
            <a:ext cx="1152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Mô phỏng kênh MIMO băng rộng biến thiên theo thời gian
dựa trên mô hình hình học với độ phức tạp thấp bằng chuỗi DPS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3311999"/>
            <a:ext cx="846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Sinh viên thực hiện: ................................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Giảng viên hướng dẫn: .............................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Thời lượng trình bày: khoảng 20 phút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Mục lục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02/18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000" y="612000"/>
            <a:ext cx="1152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42E52"/>
                </a:solidFill>
                <a:latin typeface="Aptos"/>
              </a:rPr>
              <a:t>Lộ trình 20 phút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206000"/>
            <a:ext cx="5328000" cy="737999"/>
          </a:xfrm>
          <a:prstGeom prst="roundRect">
            <a:avLst/>
          </a:prstGeom>
          <a:solidFill>
            <a:srgbClr val="FFFFFF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2000" y="1342800"/>
            <a:ext cx="450000" cy="450000"/>
          </a:xfrm>
          <a:prstGeom prst="ellipse">
            <a:avLst/>
          </a:prstGeom>
          <a:solidFill>
            <a:srgbClr val="2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299600"/>
            <a:ext cx="4482000" cy="64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E52"/>
                </a:solidFill>
                <a:latin typeface="Aptos"/>
              </a:rPr>
              <a:t>Đặt vấn đề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86069"/>
                </a:solidFill>
                <a:latin typeface="Aptos"/>
              </a:rPr>
              <a:t>Bối cảnh, SoCE và mục tiêu đồ 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6000" y="1206000"/>
            <a:ext cx="5328000" cy="737999"/>
          </a:xfrm>
          <a:prstGeom prst="roundRect">
            <a:avLst/>
          </a:prstGeom>
          <a:solidFill>
            <a:srgbClr val="FFFFFF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2000" y="1342800"/>
            <a:ext cx="450000" cy="450000"/>
          </a:xfrm>
          <a:prstGeom prst="ellipse">
            <a:avLst/>
          </a:prstGeom>
          <a:solidFill>
            <a:srgbClr val="2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8000" y="1299600"/>
            <a:ext cx="4482000" cy="64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E52"/>
                </a:solidFill>
                <a:latin typeface="Aptos"/>
              </a:rPr>
              <a:t>Cơ sở phương pháp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86069"/>
                </a:solidFill>
                <a:latin typeface="Aptos"/>
              </a:rPr>
              <a:t>Giới hạn băng, DPS và mô hình MIMO 4D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000" y="2250000"/>
            <a:ext cx="5328000" cy="737999"/>
          </a:xfrm>
          <a:prstGeom prst="roundRect">
            <a:avLst/>
          </a:prstGeom>
          <a:solidFill>
            <a:srgbClr val="FFFFFF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000" y="2386800"/>
            <a:ext cx="450000" cy="450000"/>
          </a:xfrm>
          <a:prstGeom prst="ellipse">
            <a:avLst/>
          </a:prstGeom>
          <a:solidFill>
            <a:srgbClr val="2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000" y="2343600"/>
            <a:ext cx="4482000" cy="64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E52"/>
                </a:solidFill>
                <a:latin typeface="Aptos"/>
              </a:rPr>
              <a:t>Triển khai mô phỏng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86069"/>
                </a:solidFill>
                <a:latin typeface="Aptos"/>
              </a:rPr>
              <a:t>Các nhánh MATLAB, thuật toán DPS và cấu hình chính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6000" y="2250000"/>
            <a:ext cx="5328000" cy="737999"/>
          </a:xfrm>
          <a:prstGeom prst="roundRect">
            <a:avLst/>
          </a:prstGeom>
          <a:solidFill>
            <a:srgbClr val="FFFFFF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2000" y="2386800"/>
            <a:ext cx="450000" cy="450000"/>
          </a:xfrm>
          <a:prstGeom prst="ellipse">
            <a:avLst/>
          </a:prstGeom>
          <a:solidFill>
            <a:srgbClr val="2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8000" y="2343600"/>
            <a:ext cx="4482000" cy="64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E52"/>
                </a:solidFill>
                <a:latin typeface="Aptos"/>
              </a:rPr>
              <a:t>Kết quả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86069"/>
                </a:solidFill>
                <a:latin typeface="Aptos"/>
              </a:rPr>
              <a:t>Đáp ứng kênh, NMSE, thời gian và benchmark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000" y="3294000"/>
            <a:ext cx="5328000" cy="737999"/>
          </a:xfrm>
          <a:prstGeom prst="roundRect">
            <a:avLst/>
          </a:prstGeom>
          <a:solidFill>
            <a:srgbClr val="FFFFFF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000" y="3430800"/>
            <a:ext cx="450000" cy="450000"/>
          </a:xfrm>
          <a:prstGeom prst="ellipse">
            <a:avLst/>
          </a:prstGeom>
          <a:solidFill>
            <a:srgbClr val="2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000" y="3387600"/>
            <a:ext cx="4482000" cy="64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E52"/>
                </a:solidFill>
                <a:latin typeface="Aptos"/>
              </a:rPr>
              <a:t>Kết luận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86069"/>
                </a:solidFill>
                <a:latin typeface="Aptos"/>
              </a:rPr>
              <a:t>Hạn chế, kết luận và hướng phát triển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6000" y="4680000"/>
            <a:ext cx="11160000" cy="737999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Mạch trình bày đi từ vấn đề độ phức tạp của SoCE đến cách dùng DPS và kiểm chứng bằng mô phỏng MATLAB.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Bối cảnh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03/18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827999"/>
            <a:ext cx="5796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Kênh MIMO băng rộng thay đổi theo thời gian, tần số, anten phát và anten thu.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Mô hình kênh dựa trên hình học (GCM) mô tả kênh bằng các thành phần đa đường (MPC).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Mỗi MPC có trễ, Doppler, góc khởi hành, góc tới và trọng số phức.</a:t>
            </a:r>
          </a:p>
        </p:txBody>
      </p:sp>
      <p:pic>
        <p:nvPicPr>
          <p:cNvPr id="6" name="Picture 5" descr="gcm_MI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792000"/>
            <a:ext cx="4752000" cy="288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2000" y="4356000"/>
            <a:ext cx="11160000" cy="720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GCM có ý nghĩa vật lý rõ ràng, nhưng mô phỏng trực tiếp có thể tốn chi phí khi kích thước hệ thống tăng.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Vấn đề của SoCE trực tiếp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04/18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000" y="594000"/>
            <a:ext cx="1152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E52"/>
                </a:solidFill>
                <a:latin typeface="Aptos"/>
              </a:rPr>
              <a:t>Tổng các hàm mũ phức trên tensor kênh bốn chiều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206000"/>
            <a:ext cx="11196000" cy="648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hₘ,q,s,r = Σ ηₚ exp{j2π(νₚm − θₚq + ζₚs − ξₚr)}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000" y="2250000"/>
            <a:ext cx="10692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Mỗi MPC đóng góp một hàm mũ phức theo bốn chiều.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SoCE phải cộng P MPC tại từng điểm mẫu của tensor kênh.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Độ phức tạp: O(M Q NTx NRx P).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Chi phí tăng nhanh khi tăng số mẫu, số anten hoặc số MPC.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Mục tiêu đồ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05/18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827999"/>
            <a:ext cx="10944000" cy="30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Hệ thống hóa mô hình GCM/SoCE cho kênh MIMO băng rộng biến thiên theo thời gian.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Trình bày cơ sở DPS cho tín hiệu giới hạn băng trên khối mẫu hữu hạn.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Triển khai MATLAB: SoCE, DPS chính xác, DPS xấp xỉ 4D và hybrid.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Đánh giá sai số NMSE và thời gian tính toán của các nhánh mô phỏng.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000" y="4428000"/>
            <a:ext cx="10944000" cy="810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Đồ án không tuyên bố đề xuất thuật toán DPS mới; trọng tâm là kiểm chứng và phân tích cách áp dụng DPS cho mô phỏng kênh.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Ý tưởng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06/18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864000"/>
            <a:ext cx="5580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Vận tốc cực đại giới hạn Doppler.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Trễ cực đại giới hạn biến thiên theo tần số.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Miền góc và khoảng cách anten giới hạn tần số không gian.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Kênh có cấu trúc giới hạn băng theo bốn chiều.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6000" y="864000"/>
            <a:ext cx="5040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Kênh không phải tensor tùy ý.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Có thể biểu diễn bằng không gian con có số chiều nhỏ hơn.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DPS phù hợp với tín hiệu giới hạn băng trên đoạn chỉ số hữu hạn.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000" y="4356000"/>
            <a:ext cx="11016000" cy="756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Thông điệp: dùng DPS để khai thác cấu trúc giới hạn băng, thay vì tính trực tiếp từng MPC tại từng mẫu.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Cơ sở DPS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07/18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92000"/>
            <a:ext cx="57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DPS là các chuỗi rời rạc tập trung năng lượng tốt trong một miền tần số cho trước.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Các vector DPS đầu tiên có trị riêng gần 1.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Khi trị riêng giảm nhanh, số chiều thiết yếu nhỏ hơn nhiều so với số mẫu ban đầu.</a:t>
            </a:r>
          </a:p>
        </p:txBody>
      </p:sp>
      <p:pic>
        <p:nvPicPr>
          <p:cNvPr id="6" name="Picture 5" descr="paper_figure4_dps_eigen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000" y="756000"/>
            <a:ext cx="4680000" cy="288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2000" y="4140000"/>
            <a:ext cx="5184000" cy="594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Biểu diễn không gian con: ĥᴰ = Vα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3999" y="4140000"/>
            <a:ext cx="5472000" cy="594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DPS chuyển bài toán từ tính từng MPC tại từng mẫu sang biểu diễn trong không gian con.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Mô hình MIMO băng rộng bốn chiều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08/18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7999" y="756000"/>
          <a:ext cx="10368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6000"/>
                <a:gridCol w="3456000"/>
                <a:gridCol w="3456000"/>
              </a:tblGrid>
              <a:tr h="4608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Chiều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Đại lượng vật lý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Tần số chuẩn hóa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</a:tr>
              <a:tr h="4608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1F23"/>
                          </a:solidFill>
                          <a:latin typeface="Aptos"/>
                        </a:rPr>
                        <a:t>Thời gian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1F23"/>
                          </a:solidFill>
                          <a:latin typeface="Aptos"/>
                        </a:rPr>
                        <a:t>Doppler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1F23"/>
                          </a:solidFill>
                          <a:latin typeface="Aptos"/>
                        </a:rPr>
                        <a:t>νₚ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08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1F23"/>
                          </a:solidFill>
                          <a:latin typeface="Aptos"/>
                        </a:rPr>
                        <a:t>Tần số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1F23"/>
                          </a:solidFill>
                          <a:latin typeface="Aptos"/>
                        </a:rPr>
                        <a:t>Trễ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1F23"/>
                          </a:solidFill>
                          <a:latin typeface="Aptos"/>
                        </a:rPr>
                        <a:t>θₚ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608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1F23"/>
                          </a:solidFill>
                          <a:latin typeface="Aptos"/>
                        </a:rPr>
                        <a:t>Anten phát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1F23"/>
                          </a:solidFill>
                          <a:latin typeface="Aptos"/>
                        </a:rPr>
                        <a:t>AoD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1F23"/>
                          </a:solidFill>
                          <a:latin typeface="Aptos"/>
                        </a:rPr>
                        <a:t>ζₚ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08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1F23"/>
                          </a:solidFill>
                          <a:latin typeface="Aptos"/>
                        </a:rPr>
                        <a:t>Anten thu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1F23"/>
                          </a:solidFill>
                          <a:latin typeface="Aptos"/>
                        </a:rPr>
                        <a:t>AoA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1F23"/>
                          </a:solidFill>
                          <a:latin typeface="Aptos"/>
                        </a:rPr>
                        <a:t>ξₚ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7999" y="3780000"/>
            <a:ext cx="10368000" cy="720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Mỗi chiều có một miền băng riêng; cơ sở DPS đa chiều được xây dựng từ các cơ sở một chiều.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Các nhánh mô phỏng MATLAB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09/18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720000"/>
          <a:ext cx="11232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6000"/>
                <a:gridCol w="561600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Nhánh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Vai trò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SoCE tham chiếu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Tính trực tiếp từ MPC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DPS chính xác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Kiểm tra sai số do cắt không gian con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DPS xấp xỉ 4D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Xấp xỉ hệ số DPS trên cả bốn chiều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Hybrid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DPS theo thời gian--tần số, trực tiếp ở hai chiều anten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mimo_dps_kaltenberger_approx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000" y="3366000"/>
            <a:ext cx="7992000" cy="237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Thuật toán DPS trong mô phỏng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10/18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720000"/>
          <a:ext cx="11340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000"/>
                <a:gridCol w="3780000"/>
                <a:gridCol w="3780000"/>
              </a:tblGrid>
              <a:tr h="4536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Bước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Nội dung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Ý nghĩa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</a:tr>
              <a:tr h="4536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F2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F23"/>
                          </a:solidFill>
                          <a:latin typeface="Aptos"/>
                        </a:rPr>
                        <a:t>Tạo cơ sở DPS 1D cho thời gian, tần số, Tx, 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F23"/>
                          </a:solidFill>
                          <a:latin typeface="Aptos"/>
                        </a:rPr>
                        <a:t>Khai thác miền giới hạn băng từng chiều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F2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F23"/>
                          </a:solidFill>
                          <a:latin typeface="Aptos"/>
                        </a:rPr>
                        <a:t>Tính tensor hệ số α từ từng MPC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F23"/>
                          </a:solidFill>
                          <a:latin typeface="Aptos"/>
                        </a:rPr>
                        <a:t>Thay biểu diễn theo mẫu bằng biểu diễn theo hệ số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36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F2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F23"/>
                          </a:solidFill>
                          <a:latin typeface="Aptos"/>
                        </a:rPr>
                        <a:t>Tái tạo H bằng nhân tensor theo từng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F23"/>
                          </a:solidFill>
                          <a:latin typeface="Aptos"/>
                        </a:rPr>
                        <a:t>Sinh lại khối kênh MIMO bốn chiều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F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F23"/>
                          </a:solidFill>
                          <a:latin typeface="Aptos"/>
                        </a:rPr>
                        <a:t>So sánh với SoCE bằng NMSE và thời gian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F23"/>
                          </a:solidFill>
                          <a:latin typeface="Aptos"/>
                        </a:rPr>
                        <a:t>Đánh giá sai số và chi phí tính toán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3999" y="3456000"/>
            <a:ext cx="10944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C1F23"/>
                </a:solidFill>
                <a:latin typeface="Aptos"/>
              </a:defRPr>
            </a:pPr>
            <a:r>
              <a:t>DPS chính xác: hệ số được tính bằng phép chiếu chính xác lên cơ sở đã cắt.</a:t>
            </a:r>
          </a:p>
          <a:p>
            <a:pPr>
              <a:spcAft>
                <a:spcPts val="600"/>
              </a:spcAft>
              <a:defRPr sz="1700">
                <a:solidFill>
                  <a:srgbClr val="1C1F23"/>
                </a:solidFill>
                <a:latin typeface="Aptos"/>
              </a:defRPr>
            </a:pPr>
            <a:r>
              <a:t>DPS xấp xỉ 4D: hệ số được xấp xỉ từ tần số chuẩn hóa của MPC ở cả bốn chiều.</a:t>
            </a:r>
          </a:p>
          <a:p>
            <a:pPr>
              <a:spcAft>
                <a:spcPts val="600"/>
              </a:spcAft>
              <a:defRPr sz="1700">
                <a:solidFill>
                  <a:srgbClr val="1C1F23"/>
                </a:solidFill>
                <a:latin typeface="Aptos"/>
              </a:defRPr>
            </a:pPr>
            <a:r>
              <a:t>Hybrid: chỉ xấp xỉ DPS ở thời gian--tần số, còn hai chiều anten dùng hàm mũ trực tiếp.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3999" y="5076000"/>
            <a:ext cx="10944000" cy="648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Điểm cần nói rõ: DPS không thay đổi tập MPC; phương pháp chỉ thay đổi cách biểu diễn và tái tạo cùng một kênh.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Cấu hình mô phỏng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11/18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0000" y="810000"/>
          <a:ext cx="10728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000"/>
                <a:gridCol w="2682000"/>
                <a:gridCol w="2682000"/>
                <a:gridCol w="2682000"/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Tham số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Giá trị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Tham số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Giá trị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NTx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NRx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Df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DTx = DRx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Dtotal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Số mẫu kênh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C1F23"/>
                          </a:solidFill>
                          <a:latin typeface="Aptos"/>
                        </a:rPr>
                        <a:t>262144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20000" y="4140000"/>
            <a:ext cx="10728000" cy="720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Số hệ số DPS nhỏ hơn đáng kể số phần tử kênh, nhưng thời gian chạy không giảm đúng theo tỷ lệ này.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Kết quả minh họa đáp ứng kênh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12/18</a:t>
            </a:r>
          </a:p>
        </p:txBody>
      </p:sp>
      <p:pic>
        <p:nvPicPr>
          <p:cNvPr id="5" name="Picture 4" descr="mimo_dps_kaltenberger_approx_tx1_r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558000"/>
            <a:ext cx="11448000" cy="4536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999" y="5400000"/>
            <a:ext cx="10440000" cy="558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Hình chỉ minh họa một cặp anten; kết luận định lượng dựa trên NMSE tính trên toàn bộ tensor.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Chỉ tiêu sai số NMSE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13/18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000" y="846000"/>
            <a:ext cx="10044000" cy="648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NMSE = E{|Href − Htest|²} / E{|Href|²}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925999"/>
            <a:ext cx="10656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Href: kênh tham chiếu SoCE.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Htest: kênh tái tạo từ nhánh DPS.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NMSE càng nhỏ thì sai số tương đối càng thấp.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Phép trung bình được tính trên toàn bộ tensor kênh.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4608000"/>
            <a:ext cx="10656000" cy="684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NMSE giúp so sánh chất lượng tái tạo giữa các nhánh trên cùng cấu hình mô phỏng.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Kết quả NMSE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14/18</a:t>
            </a:r>
          </a:p>
        </p:txBody>
      </p:sp>
      <p:pic>
        <p:nvPicPr>
          <p:cNvPr id="5" name="Picture 4" descr="mimo_dps_kaltenberger_approx_nms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12000"/>
            <a:ext cx="5328000" cy="3888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76000" y="810000"/>
          <a:ext cx="5616000" cy="21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000"/>
                <a:gridCol w="2808000"/>
              </a:tblGrid>
              <a:tr h="439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Nhánh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NMSE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</a:tr>
              <a:tr h="439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F23"/>
                          </a:solidFill>
                          <a:latin typeface="Aptos"/>
                        </a:rPr>
                        <a:t>DPS chính xác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F23"/>
                          </a:solidFill>
                          <a:latin typeface="Aptos"/>
                        </a:rPr>
                        <a:t>8,53×10⁻⁹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9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F23"/>
                          </a:solidFill>
                          <a:latin typeface="Aptos"/>
                        </a:rPr>
                        <a:t>DPS xấp xỉ 4D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F23"/>
                          </a:solidFill>
                          <a:latin typeface="Aptos"/>
                        </a:rPr>
                        <a:t>1,99×10⁻⁴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39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F23"/>
                          </a:solidFill>
                          <a:latin typeface="Aptos"/>
                        </a:rPr>
                        <a:t>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F23"/>
                          </a:solidFill>
                          <a:latin typeface="Aptos"/>
                        </a:rPr>
                        <a:t>4,29×10⁻⁷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9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F23"/>
                          </a:solidFill>
                          <a:latin typeface="Aptos"/>
                        </a:rPr>
                        <a:t>Hybrid so với DPS chính xác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F23"/>
                          </a:solidFill>
                          <a:latin typeface="Aptos"/>
                        </a:rPr>
                        <a:t>4,20×10⁻⁷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76000" y="3366000"/>
            <a:ext cx="5616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C1F23"/>
                </a:solidFill>
                <a:latin typeface="Aptos"/>
              </a:defRPr>
            </a:pPr>
            <a:r>
              <a:t>DPS chính xác: sai số cắt rất nhỏ trong cấu hình hiện tại.</a:t>
            </a:r>
          </a:p>
          <a:p>
            <a:pPr>
              <a:spcAft>
                <a:spcPts val="600"/>
              </a:spcAft>
              <a:defRPr sz="1700">
                <a:solidFill>
                  <a:srgbClr val="1C1F23"/>
                </a:solidFill>
                <a:latin typeface="Aptos"/>
              </a:defRPr>
            </a:pPr>
            <a:r>
              <a:t>DPS xấp xỉ 4D: sai số lớn hơn do xấp xỉ hệ số ở cả bốn chiều.</a:t>
            </a:r>
          </a:p>
          <a:p>
            <a:pPr>
              <a:spcAft>
                <a:spcPts val="600"/>
              </a:spcAft>
              <a:defRPr sz="1700">
                <a:solidFill>
                  <a:srgbClr val="1C1F23"/>
                </a:solidFill>
                <a:latin typeface="Aptos"/>
              </a:defRPr>
            </a:pPr>
            <a:r>
              <a:t>Hybrid: giảm sai số vì tránh xấp xỉ ở hai chiều anten.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Kết quả thời gian tính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15/18</a:t>
            </a:r>
          </a:p>
        </p:txBody>
      </p:sp>
      <p:pic>
        <p:nvPicPr>
          <p:cNvPr id="5" name="Picture 4" descr="mimo_dps_kaltenberger_approx_runtim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12000"/>
            <a:ext cx="5328000" cy="3888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12000" y="846000"/>
          <a:ext cx="5472000" cy="20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/>
                <a:gridCol w="2736000"/>
              </a:tblGrid>
              <a:tr h="4176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Nhánh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Thời gian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</a:tr>
              <a:tr h="4176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SoCE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0,222372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76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DPS chính xác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0,045555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176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DPS xấp xỉ 4D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0,080983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76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Hybrid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F23"/>
                          </a:solidFill>
                          <a:latin typeface="Aptos"/>
                        </a:rPr>
                        <a:t>0,025322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012000" y="3384000"/>
            <a:ext cx="5472000" cy="936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Trong cấu hình hiện tại, hybrid có thời gian xử lý nhỏ nhất. Phép đo chưa bao gồm đầy đủ chi phí tạo cơ sở DPS.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Kết quả bổ 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16/18</a:t>
            </a:r>
          </a:p>
        </p:txBody>
      </p:sp>
      <p:pic>
        <p:nvPicPr>
          <p:cNvPr id="5" name="Picture 4" descr="mimo_dps_kaltenberger_p_sweep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12000"/>
            <a:ext cx="5328000" cy="3528000"/>
          </a:xfrm>
          <a:prstGeom prst="rect">
            <a:avLst/>
          </a:prstGeom>
        </p:spPr>
      </p:pic>
      <p:pic>
        <p:nvPicPr>
          <p:cNvPr id="6" name="Picture 5" descr="mimo_four_method_benchmark_n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00" y="612000"/>
            <a:ext cx="5328000" cy="352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4446000"/>
            <a:ext cx="11160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C1F23"/>
                </a:solidFill>
                <a:latin typeface="Aptos"/>
              </a:defRPr>
            </a:pPr>
            <a:r>
              <a:t>Sweep theo số MPC: P = 10, 20, 40, 80, 160, 320.</a:t>
            </a:r>
          </a:p>
          <a:p>
            <a:pPr>
              <a:spcAft>
                <a:spcPts val="600"/>
              </a:spcAft>
              <a:defRPr sz="1700">
                <a:solidFill>
                  <a:srgbClr val="1C1F23"/>
                </a:solidFill>
                <a:latin typeface="Aptos"/>
              </a:defRPr>
            </a:pPr>
            <a:r>
              <a:t>Benchmark: SoCE trực tiếp, SoCE đệ quy, CE-BEM và DPS chính xác.</a:t>
            </a:r>
          </a:p>
          <a:p>
            <a:pPr>
              <a:spcAft>
                <a:spcPts val="600"/>
              </a:spcAft>
              <a:defRPr sz="1700">
                <a:solidFill>
                  <a:srgbClr val="1C1F23"/>
                </a:solidFill>
                <a:latin typeface="Aptos"/>
              </a:defRPr>
            </a:pPr>
            <a:r>
              <a:t>Không kết luận DPS luôn tốt hơn; kết quả phụ thuộc cấu hình, miền băng và cách triển khai.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Hạn chế của đồ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17/18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756000"/>
            <a:ext cx="1098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Chưa tái tạo đầy đủ một hình hoặc bảng cụ thể của bài báo gốc với toàn bộ tham số khớp nhau.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Cấu hình mô phỏng chính còn hẹp.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Số chiều DPS và hệ số phân giải chưa được tối ưu tự động trong nhánh chính.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Thời gian chạy phụ thuộc môi trường MATLAB, cách vector hóa và phần cứng.</a:t>
            </a:r>
          </a:p>
          <a:p>
            <a:pPr>
              <a:spcAft>
                <a:spcPts val="600"/>
              </a:spcAft>
              <a:defRPr sz="2100">
                <a:solidFill>
                  <a:srgbClr val="1C1F23"/>
                </a:solidFill>
                <a:latin typeface="Aptos"/>
              </a:defRPr>
            </a:pPr>
            <a:r>
              <a:t>Chi phí tạo cơ sở DPS chưa được tính đầy đủ trong phép đo thời gian chính.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3999" y="4446000"/>
            <a:ext cx="10980000" cy="720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Kết quả cần được hiểu trong phạm vi cấu hình mô phỏng hiện tại.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24800"/>
          </a:xfrm>
          <a:prstGeom prst="rect">
            <a:avLst/>
          </a:prstGeom>
          <a:solidFill>
            <a:srgbClr val="14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4000" y="64800"/>
            <a:ext cx="1015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Kết luận và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0" y="68400"/>
            <a:ext cx="7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18/18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756000"/>
            <a:ext cx="11016000" cy="20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Đã trình bày mô hình GCM/SoCE cho kênh MIMO băng rộng biến thiên theo thời gian.</a:t>
            </a:r>
          </a:p>
          <a:p>
            <a:pPr>
              <a:spcAft>
                <a:spcPts val="6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Đã triển khai và so sánh SoCE, DPS chính xác, DPS xấp xỉ 4D và hybrid.</a:t>
            </a:r>
          </a:p>
          <a:p>
            <a:pPr>
              <a:spcAft>
                <a:spcPts val="6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Trong cấu hình hiện tại, DPS chính xác có sai số cắt nhỏ.</a:t>
            </a:r>
          </a:p>
          <a:p>
            <a:pPr>
              <a:spcAft>
                <a:spcPts val="6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Hybrid đạt cân bằng tốt hơn giữa sai số và thời gian so với xấp xỉ 4D.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3078000"/>
            <a:ext cx="11016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Hướng phát triển: quét thêm số anten, số MPC, miền băng và số chiều DPS.</a:t>
            </a:r>
          </a:p>
          <a:p>
            <a:pPr>
              <a:spcAft>
                <a:spcPts val="6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Chọn số chiều DPS và hệ số phân giải theo ngưỡng sai số.</a:t>
            </a:r>
          </a:p>
          <a:p>
            <a:pPr>
              <a:spcAft>
                <a:spcPts val="6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Tái tạo đầy đủ một kết quả định lượng cụ thể của bài báo Kaltenberger.</a:t>
            </a:r>
          </a:p>
          <a:p>
            <a:pPr>
              <a:spcAft>
                <a:spcPts val="6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Mở rộng sang mô hình kênh chuẩn thực tế hơn.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24000" y="5490000"/>
            <a:ext cx="9720000" cy="612000"/>
          </a:xfrm>
          <a:prstGeom prst="roundRect">
            <a:avLst/>
          </a:prstGeom>
          <a:solidFill>
            <a:srgbClr val="E6EEFA"/>
          </a:solidFill>
          <a:ln>
            <a:solidFill>
              <a:srgbClr val="2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72000"/>
          <a:lstStyle/>
          <a:p>
            <a:pPr algn="ctr"/>
            <a:r>
              <a:rPr sz="1800" b="1">
                <a:solidFill>
                  <a:srgbClr val="142E52"/>
                </a:solidFill>
                <a:latin typeface="Aptos"/>
              </a:rPr>
              <a:t>Em xin kết thúc phần trình bày và kính mong nhận được góp ý của quý thầy cô.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8799"/>
            <a:ext cx="12192119" cy="792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